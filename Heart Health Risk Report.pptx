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E68DD6A3-80BC-0EB5-4A7C-5600FC38F795}">
          <p14:sldIdLst>
            <p14:sldId id="256"/>
          </p14:sldIdLst>
        </p14:section>
        <p14:section name="Data" id="{D2390E81-9D8A-28B3-8CBB-597C43B725D1}">
          <p14:sldIdLst>
            <p14:sldId id="257"/>
          </p14:sldIdLst>
        </p14:section>
        <p14:section name="Models" id="{C5879CAD-8EE6-0A21-3F8E-187ECEFB6CEA}">
          <p14:sldIdLst>
            <p14:sldId id="258"/>
            <p14:sldId id="259"/>
            <p14:sldId id="260"/>
          </p14:sldIdLst>
        </p14:section>
        <p14:section name="Clustering" id="{14A3623C-FD60-E4BF-568E-0847F1ED4976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3A0A14"/>
                </a:solidFill>
                <a:latin typeface="+mj-lt"/>
              </a:defRPr>
            </a:pPr>
            <a:r>
              <a:rPr lang="en-US" sz="1600" b="0" i="0" u="none" strike="noStrike">
                <a:solidFill>
                  <a:srgbClr val="3A0A14"/>
                </a:solidFill>
                <a:latin typeface="+mj-lt"/>
              </a:rPr>
              <a:t>Coefficient (mmHg per unit)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C6283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628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0D2-4B0F-B12C-ED2939BBD795}"/>
              </c:ext>
            </c:extLst>
          </c:dPt>
          <c:dPt>
            <c:idx val="1"/>
            <c:invertIfNegative val="0"/>
            <c:bubble3D val="0"/>
            <c:spPr>
              <a:solidFill>
                <a:srgbClr val="C628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D2-4B0F-B12C-ED2939BBD795}"/>
              </c:ext>
            </c:extLst>
          </c:dPt>
          <c:dPt>
            <c:idx val="2"/>
            <c:invertIfNegative val="0"/>
            <c:bubble3D val="0"/>
            <c:spPr>
              <a:solidFill>
                <a:srgbClr val="1B7F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D2-4B0F-B12C-ED2939BBD795}"/>
              </c:ext>
            </c:extLst>
          </c:dPt>
          <c:dLbls>
            <c:numFmt formatCode="\+0.00;\-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A2A2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BMI</c:v>
                </c:pt>
                <c:pt idx="1">
                  <c:v>Age</c:v>
                </c:pt>
                <c:pt idx="2">
                  <c:v>Male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1.41</c:v>
                </c:pt>
                <c:pt idx="1">
                  <c:v>0.81</c:v>
                </c:pt>
                <c:pt idx="2">
                  <c:v>-1.93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0D2-4B0F-B12C-ED2939BBD7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A2A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"/>
          <c:min val="-2.5"/>
        </c:scaling>
        <c:delete val="0"/>
        <c:axPos val="t"/>
        <c:majorGridlines>
          <c:spPr>
            <a:ln w="9525" cap="flat">
              <a:solidFill>
                <a:srgbClr val="E3D6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3A0A14"/>
                </a:solidFill>
                <a:latin typeface="+mj-lt"/>
              </a:defRPr>
            </a:pPr>
            <a:r>
              <a:rPr lang="en-US" sz="1600" b="0" i="0" u="none" strike="noStrike">
                <a:solidFill>
                  <a:srgbClr val="3A0A14"/>
                </a:solidFill>
                <a:latin typeface="+mj-lt"/>
              </a:rPr>
              <a:t>Top risk factors (odds ratios)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Odds ratio</c:v>
                </c:pt>
              </c:strCache>
            </c:strRef>
          </c:tx>
          <c:spPr>
            <a:solidFill>
              <a:srgbClr val="C6283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628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36A-42B9-85B8-B729331A6433}"/>
              </c:ext>
            </c:extLst>
          </c:dPt>
          <c:dPt>
            <c:idx val="1"/>
            <c:invertIfNegative val="0"/>
            <c:bubble3D val="0"/>
            <c:spPr>
              <a:solidFill>
                <a:srgbClr val="C628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36A-42B9-85B8-B729331A6433}"/>
              </c:ext>
            </c:extLst>
          </c:dPt>
          <c:dPt>
            <c:idx val="2"/>
            <c:invertIfNegative val="0"/>
            <c:bubble3D val="0"/>
            <c:spPr>
              <a:solidFill>
                <a:srgbClr val="C628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36A-42B9-85B8-B729331A6433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A2A2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Prevalent hypertension</c:v>
                </c:pt>
                <c:pt idx="2">
                  <c:v>Prevalent stroke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1.54</c:v>
                </c:pt>
                <c:pt idx="1">
                  <c:v>1.48</c:v>
                </c:pt>
                <c:pt idx="2">
                  <c:v>1.17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36A-42B9-85B8-B729331A64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A2A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t"/>
        <c:majorGridlines>
          <c:spPr>
            <a:ln w="9525" cap="flat">
              <a:solidFill>
                <a:srgbClr val="E3D6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3A0A14"/>
                </a:solidFill>
                <a:latin typeface="+mj-lt"/>
              </a:defRPr>
            </a:pPr>
            <a:r>
              <a:rPr lang="en-US" sz="1600" b="0" i="0" u="none" strike="noStrike">
                <a:solidFill>
                  <a:srgbClr val="3A0A14"/>
                </a:solidFill>
                <a:latin typeface="+mj-lt"/>
              </a:rPr>
              <a:t>10-year CHD rate by cluster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CHD rate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7F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E91-4D96-9A28-EB44F2E0DA36}"/>
              </c:ext>
            </c:extLst>
          </c:dPt>
          <c:dPt>
            <c:idx val="1"/>
            <c:invertIfNegative val="0"/>
            <c:bubble3D val="0"/>
            <c:spPr>
              <a:solidFill>
                <a:srgbClr val="C628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E91-4D96-9A28-EB44F2E0DA36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2A2A2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Cluster 3: younger / healthy</c:v>
                </c:pt>
                <c:pt idx="1">
                  <c:v>Cluster 1: older / hypertensive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6.24</c:v>
                </c:pt>
                <c:pt idx="1">
                  <c:v>33.15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E91-4D96-9A28-EB44F2E0DA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A2A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9525" cap="flat">
              <a:solidFill>
                <a:srgbClr val="E3D6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202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06908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Heart Attack Risk Analysis &amp; Machine Learning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0690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2"/>
                </a:solidFill>
              </a:rPr>
              <a:t>Framingham Heart Study: regression, classification and clustering</a:t>
            </a:r>
            <a:endParaRPr lang="en-US" sz="2000" dirty="0"/>
          </a:p>
        </p:txBody>
      </p:sp>
      <p:sp>
        <p:nvSpPr>
          <p:cNvPr id="4" name="heart motif"/>
          <p:cNvSpPr/>
          <p:nvPr/>
        </p:nvSpPr>
        <p:spPr>
          <a:xfrm>
            <a:off x="8229600" y="1463040"/>
            <a:ext cx="3291840" cy="3017520"/>
          </a:xfrm>
          <a:prstGeom prst="hear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Introduction &amp; Dataset Overview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1"/>
                </a:solidFill>
              </a:rPr>
              <a:t>Framingham Heart Study</a:t>
            </a:r>
            <a:endParaRPr lang="en-US" sz="1800" dirty="0"/>
          </a:p>
        </p:txBody>
      </p:sp>
      <p:sp>
        <p:nvSpPr>
          <p:cNvPr id="4" name="records card"/>
          <p:cNvSpPr/>
          <p:nvPr/>
        </p:nvSpPr>
        <p:spPr>
          <a:xfrm>
            <a:off x="548640" y="173736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ecords value"/>
          <p:cNvSpPr txBox="1"/>
          <p:nvPr/>
        </p:nvSpPr>
        <p:spPr>
          <a:xfrm>
            <a:off x="777240" y="1874520"/>
            <a:ext cx="301752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3,658</a:t>
            </a:r>
            <a:endParaRPr lang="en-US" sz="4400" dirty="0"/>
          </a:p>
        </p:txBody>
      </p:sp>
      <p:sp>
        <p:nvSpPr>
          <p:cNvPr id="6" name="records label"/>
          <p:cNvSpPr txBox="1"/>
          <p:nvPr/>
        </p:nvSpPr>
        <p:spPr>
          <a:xfrm>
            <a:off x="777240" y="2830068"/>
            <a:ext cx="30175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patient records</a:t>
            </a:r>
            <a:endParaRPr lang="en-US" sz="1400" dirty="0"/>
          </a:p>
        </p:txBody>
      </p:sp>
      <p:sp>
        <p:nvSpPr>
          <p:cNvPr id="7" name="features card"/>
          <p:cNvSpPr/>
          <p:nvPr/>
        </p:nvSpPr>
        <p:spPr>
          <a:xfrm>
            <a:off x="4343400" y="173736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eatures value"/>
          <p:cNvSpPr txBox="1"/>
          <p:nvPr/>
        </p:nvSpPr>
        <p:spPr>
          <a:xfrm>
            <a:off x="4572000" y="1874520"/>
            <a:ext cx="301752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400" dirty="0"/>
          </a:p>
        </p:txBody>
      </p:sp>
      <p:sp>
        <p:nvSpPr>
          <p:cNvPr id="9" name="features label"/>
          <p:cNvSpPr txBox="1"/>
          <p:nvPr/>
        </p:nvSpPr>
        <p:spPr>
          <a:xfrm>
            <a:off x="4572000" y="2830068"/>
            <a:ext cx="30175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features</a:t>
            </a:r>
            <a:endParaRPr lang="en-US" sz="1400" dirty="0"/>
          </a:p>
        </p:txBody>
      </p:sp>
      <p:sp>
        <p:nvSpPr>
          <p:cNvPr id="10" name="goals card"/>
          <p:cNvSpPr/>
          <p:nvPr/>
        </p:nvSpPr>
        <p:spPr>
          <a:xfrm>
            <a:off x="8138160" y="173736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goals value"/>
          <p:cNvSpPr txBox="1"/>
          <p:nvPr/>
        </p:nvSpPr>
        <p:spPr>
          <a:xfrm>
            <a:off x="8366760" y="1874520"/>
            <a:ext cx="301752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goals label"/>
          <p:cNvSpPr txBox="1"/>
          <p:nvPr/>
        </p:nvSpPr>
        <p:spPr>
          <a:xfrm>
            <a:off x="8366760" y="2830068"/>
            <a:ext cx="30175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prediction goals</a:t>
            </a:r>
            <a:endParaRPr lang="en-US" sz="1400" dirty="0"/>
          </a:p>
        </p:txBody>
      </p:sp>
      <p:sp>
        <p:nvSpPr>
          <p:cNvPr id="13" name="heading Objective"/>
          <p:cNvSpPr txBox="1"/>
          <p:nvPr/>
        </p:nvSpPr>
        <p:spPr>
          <a:xfrm>
            <a:off x="548640" y="3840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2000" dirty="0"/>
          </a:p>
        </p:txBody>
      </p:sp>
      <p:sp>
        <p:nvSpPr>
          <p:cNvPr id="14" name="objectives"/>
          <p:cNvSpPr txBox="1"/>
          <p:nvPr/>
        </p:nvSpPr>
        <p:spPr>
          <a:xfrm>
            <a:off x="548640" y="434340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Predict systolic blood pressure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Predict 10-year CHD risk (TenYearCHD)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Identify patient risk profiles</a:t>
            </a:r>
            <a:endParaRPr lang="en-US" sz="1600" dirty="0"/>
          </a:p>
        </p:txBody>
      </p:sp>
      <p:sp>
        <p:nvSpPr>
          <p:cNvPr id="15" name="heading Key features"/>
          <p:cNvSpPr txBox="1"/>
          <p:nvPr/>
        </p:nvSpPr>
        <p:spPr>
          <a:xfrm>
            <a:off x="6309360" y="3840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16" name="chip Age"/>
          <p:cNvSpPr/>
          <p:nvPr/>
        </p:nvSpPr>
        <p:spPr>
          <a:xfrm>
            <a:off x="6309360" y="438912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" name="chip label Age"/>
          <p:cNvSpPr txBox="1"/>
          <p:nvPr/>
        </p:nvSpPr>
        <p:spPr>
          <a:xfrm>
            <a:off x="6309360" y="4389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Age</a:t>
            </a:r>
            <a:endParaRPr lang="en-US" sz="1400" dirty="0"/>
          </a:p>
        </p:txBody>
      </p:sp>
      <p:sp>
        <p:nvSpPr>
          <p:cNvPr id="18" name="chip BMI"/>
          <p:cNvSpPr/>
          <p:nvPr/>
        </p:nvSpPr>
        <p:spPr>
          <a:xfrm>
            <a:off x="8138160" y="438912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chip label BMI"/>
          <p:cNvSpPr txBox="1"/>
          <p:nvPr/>
        </p:nvSpPr>
        <p:spPr>
          <a:xfrm>
            <a:off x="8138160" y="4389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BMI</a:t>
            </a:r>
            <a:endParaRPr lang="en-US" sz="1400" dirty="0"/>
          </a:p>
        </p:txBody>
      </p:sp>
      <p:sp>
        <p:nvSpPr>
          <p:cNvPr id="20" name="chip Systolic BP"/>
          <p:cNvSpPr/>
          <p:nvPr/>
        </p:nvSpPr>
        <p:spPr>
          <a:xfrm>
            <a:off x="9966960" y="438912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1" name="chip label Systolic BP"/>
          <p:cNvSpPr txBox="1"/>
          <p:nvPr/>
        </p:nvSpPr>
        <p:spPr>
          <a:xfrm>
            <a:off x="9966960" y="4389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Systolic BP</a:t>
            </a:r>
            <a:endParaRPr lang="en-US" sz="1400" dirty="0"/>
          </a:p>
        </p:txBody>
      </p:sp>
      <p:sp>
        <p:nvSpPr>
          <p:cNvPr id="22" name="chip Diastolic BP"/>
          <p:cNvSpPr/>
          <p:nvPr/>
        </p:nvSpPr>
        <p:spPr>
          <a:xfrm>
            <a:off x="6309360" y="498348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3" name="chip label Diastolic BP"/>
          <p:cNvSpPr txBox="1"/>
          <p:nvPr/>
        </p:nvSpPr>
        <p:spPr>
          <a:xfrm>
            <a:off x="6309360" y="4983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Diastolic BP</a:t>
            </a:r>
            <a:endParaRPr lang="en-US" sz="1400" dirty="0"/>
          </a:p>
        </p:txBody>
      </p:sp>
      <p:sp>
        <p:nvSpPr>
          <p:cNvPr id="24" name="chip Glucose"/>
          <p:cNvSpPr/>
          <p:nvPr/>
        </p:nvSpPr>
        <p:spPr>
          <a:xfrm>
            <a:off x="8138160" y="498348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5" name="chip label Glucose"/>
          <p:cNvSpPr txBox="1"/>
          <p:nvPr/>
        </p:nvSpPr>
        <p:spPr>
          <a:xfrm>
            <a:off x="8138160" y="4983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Glucose</a:t>
            </a:r>
            <a:endParaRPr lang="en-US" sz="1400" dirty="0"/>
          </a:p>
        </p:txBody>
      </p:sp>
      <p:sp>
        <p:nvSpPr>
          <p:cNvPr id="26" name="chip Total Cholesterol"/>
          <p:cNvSpPr/>
          <p:nvPr/>
        </p:nvSpPr>
        <p:spPr>
          <a:xfrm>
            <a:off x="9966960" y="498348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7" name="chip label Total Cholesterol"/>
          <p:cNvSpPr txBox="1"/>
          <p:nvPr/>
        </p:nvSpPr>
        <p:spPr>
          <a:xfrm>
            <a:off x="9966960" y="4983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Total Cholesterol</a:t>
            </a:r>
            <a:endParaRPr lang="en-US" sz="1400" dirty="0"/>
          </a:p>
        </p:txBody>
      </p:sp>
      <p:sp>
        <p:nvSpPr>
          <p:cNvPr id="28" name="chip Cigarettes / Day"/>
          <p:cNvSpPr/>
          <p:nvPr/>
        </p:nvSpPr>
        <p:spPr>
          <a:xfrm>
            <a:off x="6309360" y="557784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9" name="chip label Cigarettes / Day"/>
          <p:cNvSpPr txBox="1"/>
          <p:nvPr/>
        </p:nvSpPr>
        <p:spPr>
          <a:xfrm>
            <a:off x="6309360" y="5577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Cigarettes / Day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Stage 1: Linear Regression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1"/>
                </a:solidFill>
              </a:rPr>
              <a:t>Predicting systolic blood pressure</a:t>
            </a:r>
            <a:endParaRPr lang="en-US" sz="1800" dirty="0"/>
          </a:p>
        </p:txBody>
      </p:sp>
      <p:graphicFrame>
        <p:nvGraphicFramePr>
          <p:cNvPr id="4" name="coefficients chart"/>
          <p:cNvGraphicFramePr/>
          <p:nvPr/>
        </p:nvGraphicFramePr>
        <p:xfrm>
          <a:off x="548640" y="1737360"/>
          <a:ext cx="67665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eatures caption"/>
          <p:cNvSpPr txBox="1"/>
          <p:nvPr/>
        </p:nvSpPr>
        <p:spPr>
          <a:xfrm>
            <a:off x="548640" y="56692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Trained on: age, BMI, cigsPerDay, totChol, glucose, male</a:t>
            </a:r>
            <a:endParaRPr lang="en-US" sz="1400" dirty="0"/>
          </a:p>
        </p:txBody>
      </p:sp>
      <p:sp>
        <p:nvSpPr>
          <p:cNvPr id="6" name="r2 card"/>
          <p:cNvSpPr/>
          <p:nvPr/>
        </p:nvSpPr>
        <p:spPr>
          <a:xfrm>
            <a:off x="7680960" y="1737360"/>
            <a:ext cx="393192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r2 value"/>
          <p:cNvSpPr txBox="1"/>
          <p:nvPr/>
        </p:nvSpPr>
        <p:spPr>
          <a:xfrm>
            <a:off x="7909560" y="1874520"/>
            <a:ext cx="347472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≈ 0.256</a:t>
            </a:r>
            <a:endParaRPr lang="en-US" sz="4400" dirty="0"/>
          </a:p>
        </p:txBody>
      </p:sp>
      <p:sp>
        <p:nvSpPr>
          <p:cNvPr id="8" name="r2 label"/>
          <p:cNvSpPr txBox="1"/>
          <p:nvPr/>
        </p:nvSpPr>
        <p:spPr>
          <a:xfrm>
            <a:off x="7909560" y="2830068"/>
            <a:ext cx="34747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Test score, outperforming baseline</a:t>
            </a:r>
            <a:endParaRPr lang="en-US" sz="1400" dirty="0"/>
          </a:p>
        </p:txBody>
      </p:sp>
      <p:sp>
        <p:nvSpPr>
          <p:cNvPr id="9" name="reading card"/>
          <p:cNvSpPr/>
          <p:nvPr/>
        </p:nvSpPr>
        <p:spPr>
          <a:xfrm>
            <a:off x="7680960" y="3749040"/>
            <a:ext cx="39319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heading Reading the coefficients"/>
          <p:cNvSpPr txBox="1"/>
          <p:nvPr/>
        </p:nvSpPr>
        <p:spPr>
          <a:xfrm>
            <a:off x="7909560" y="3886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coefficients</a:t>
            </a:r>
            <a:endParaRPr lang="en-US" sz="2000" dirty="0"/>
          </a:p>
        </p:txBody>
      </p:sp>
      <p:sp>
        <p:nvSpPr>
          <p:cNvPr id="11" name="coef notes"/>
          <p:cNvSpPr txBox="1"/>
          <p:nvPr/>
        </p:nvSpPr>
        <p:spPr>
          <a:xfrm>
            <a:off x="7909560" y="438912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BMI: strongest positive predictor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Age: steady rise with 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Male: baseline difference, other factors held constant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Stage 2: Logistic Regression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1"/>
                </a:solidFill>
              </a:rPr>
              <a:t>Predicting 10-year CHD</a:t>
            </a:r>
            <a:endParaRPr lang="en-US" sz="1800" dirty="0"/>
          </a:p>
        </p:txBody>
      </p:sp>
      <p:graphicFrame>
        <p:nvGraphicFramePr>
          <p:cNvPr id="4" name="odds ratio chart"/>
          <p:cNvGraphicFramePr/>
          <p:nvPr/>
        </p:nvGraphicFramePr>
        <p:xfrm>
          <a:off x="548640" y="1737360"/>
          <a:ext cx="67665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etup card"/>
          <p:cNvSpPr/>
          <p:nvPr/>
        </p:nvSpPr>
        <p:spPr>
          <a:xfrm>
            <a:off x="7680960" y="1737360"/>
            <a:ext cx="393192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setup text"/>
          <p:cNvSpPr txBox="1"/>
          <p:nvPr/>
        </p:nvSpPr>
        <p:spPr>
          <a:xfrm>
            <a:off x="7909560" y="18745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setup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L1 logistic regression, tuned with GridSearchCV (liblinear, C = 0.801)</a:t>
            </a:r>
            <a:endParaRPr lang="en-US" sz="2000" dirty="0"/>
          </a:p>
        </p:txBody>
      </p:sp>
      <p:sp>
        <p:nvSpPr>
          <p:cNvPr id="7" name="value card"/>
          <p:cNvSpPr/>
          <p:nvPr/>
        </p:nvSpPr>
        <p:spPr>
          <a:xfrm>
            <a:off x="7680960" y="4114800"/>
            <a:ext cx="39319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value text"/>
          <p:cNvSpPr txBox="1"/>
          <p:nvPr/>
        </p:nvSpPr>
        <p:spPr>
          <a:xfrm>
            <a:off x="7909560" y="425196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value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Highly interpretable: clinicians can clearly communicate modifiable risk factors to patients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Stage 3: Classification Performance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1"/>
                </a:solidFill>
              </a:rPr>
              <a:t>Threshold tuning</a:t>
            </a:r>
            <a:endParaRPr lang="en-US" sz="1800" dirty="0"/>
          </a:p>
        </p:txBody>
      </p:sp>
      <p:sp>
        <p:nvSpPr>
          <p:cNvPr id="4" name="accuracy card"/>
          <p:cNvSpPr/>
          <p:nvPr/>
        </p:nvSpPr>
        <p:spPr>
          <a:xfrm>
            <a:off x="548640" y="1737360"/>
            <a:ext cx="32918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ccuracy value"/>
          <p:cNvSpPr txBox="1"/>
          <p:nvPr/>
        </p:nvSpPr>
        <p:spPr>
          <a:xfrm>
            <a:off x="777240" y="18745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85.68%</a:t>
            </a:r>
            <a:endParaRPr lang="en-US" sz="4400" dirty="0"/>
          </a:p>
        </p:txBody>
      </p:sp>
      <p:sp>
        <p:nvSpPr>
          <p:cNvPr id="6" name="accuracy label"/>
          <p:cNvSpPr txBox="1"/>
          <p:nvPr/>
        </p:nvSpPr>
        <p:spPr>
          <a:xfrm>
            <a:off x="777240" y="28803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Test accuracy (baseline 84.81%)</a:t>
            </a:r>
            <a:endParaRPr lang="en-US" sz="1400" dirty="0"/>
          </a:p>
        </p:txBody>
      </p:sp>
      <p:sp>
        <p:nvSpPr>
          <p:cNvPr id="7" name="auc card"/>
          <p:cNvSpPr/>
          <p:nvPr/>
        </p:nvSpPr>
        <p:spPr>
          <a:xfrm>
            <a:off x="548640" y="3840480"/>
            <a:ext cx="329184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auc value"/>
          <p:cNvSpPr txBox="1"/>
          <p:nvPr/>
        </p:nvSpPr>
        <p:spPr>
          <a:xfrm>
            <a:off x="777240" y="39776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0.734</a:t>
            </a:r>
            <a:endParaRPr lang="en-US" sz="4400" dirty="0"/>
          </a:p>
        </p:txBody>
      </p:sp>
      <p:sp>
        <p:nvSpPr>
          <p:cNvPr id="9" name="auc label"/>
          <p:cNvSpPr txBox="1"/>
          <p:nvPr/>
        </p:nvSpPr>
        <p:spPr>
          <a:xfrm>
            <a:off x="777240" y="49834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Test AUC</a:t>
            </a:r>
            <a:endParaRPr lang="en-US" sz="1400" dirty="0"/>
          </a:p>
        </p:txBody>
      </p:sp>
      <p:graphicFrame>
        <p:nvGraphicFramePr>
          <p:cNvPr id="10" name="threshol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737360"/>
          <a:ext cx="7406640" cy="20116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CHD caught (TP)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CHD missed (FN)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 flagged (FP)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A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50 card"/>
          <p:cNvSpPr/>
          <p:nvPr/>
        </p:nvSpPr>
        <p:spPr>
          <a:xfrm>
            <a:off x="4206240" y="384048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50 text"/>
          <p:cNvSpPr txBox="1"/>
          <p:nvPr/>
        </p:nvSpPr>
        <p:spPr>
          <a:xfrm>
            <a:off x="4434840" y="39776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0.50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High specificity. Catches 10.8% of CHD cases (15 TP).</a:t>
            </a:r>
            <a:endParaRPr lang="en-US" sz="1800" dirty="0"/>
          </a:p>
        </p:txBody>
      </p:sp>
      <p:sp>
        <p:nvSpPr>
          <p:cNvPr id="13" name="t15 card"/>
          <p:cNvSpPr/>
          <p:nvPr/>
        </p:nvSpPr>
        <p:spPr>
          <a:xfrm>
            <a:off x="8046720" y="384048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15 text"/>
          <p:cNvSpPr txBox="1"/>
          <p:nvPr/>
        </p:nvSpPr>
        <p:spPr>
          <a:xfrm>
            <a:off x="8275320" y="39776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0.15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High sensitivity. Catches 70.5% of CHD cases (98 TP), with more false positives.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Stage 4: Foundations of Clustering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1"/>
                </a:solidFill>
              </a:rPr>
              <a:t>Unsupervised patient risk profiles</a:t>
            </a:r>
            <a:endParaRPr lang="en-US" sz="1800" dirty="0"/>
          </a:p>
        </p:txBody>
      </p:sp>
      <p:sp>
        <p:nvSpPr>
          <p:cNvPr id="4" name="algo card"/>
          <p:cNvSpPr/>
          <p:nvPr/>
        </p:nvSpPr>
        <p:spPr>
          <a:xfrm>
            <a:off x="548640" y="173736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lgorithms text"/>
          <p:cNvSpPr txBox="1"/>
          <p:nvPr/>
        </p:nvSpPr>
        <p:spPr>
          <a:xfrm>
            <a:off x="822960" y="1737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K-Means (k = 4)</a:t>
            </a:r>
            <a:r>
              <a:rPr lang="en-US" sz="1800" dirty="0">
                <a:solidFill>
                  <a:schemeClr val="tx2"/>
                </a:solidFill>
              </a:rPr>
              <a:t>  and  </a:t>
            </a:r>
            <a:r>
              <a:rPr lang="en-US" sz="1800" b="1" dirty="0">
                <a:solidFill>
                  <a:schemeClr val="tx2"/>
                </a:solidFill>
              </a:rPr>
              <a:t>Hierarchical clustering (Ward's method)</a:t>
            </a:r>
            <a:r>
              <a:rPr lang="en-US" sz="1800" dirty="0">
                <a:solidFill>
                  <a:schemeClr val="tx2"/>
                </a:solidFill>
              </a:rPr>
              <a:t>  on normalized physiological metrics</a:t>
            </a:r>
            <a:endParaRPr lang="en-US" sz="1800" dirty="0"/>
          </a:p>
        </p:txBody>
      </p:sp>
      <p:sp>
        <p:nvSpPr>
          <p:cNvPr id="6" name="highrisk card"/>
          <p:cNvSpPr/>
          <p:nvPr/>
        </p:nvSpPr>
        <p:spPr>
          <a:xfrm>
            <a:off x="548640" y="3017520"/>
            <a:ext cx="5394960" cy="3108960"/>
          </a:xfrm>
          <a:prstGeom prst="roundRect">
            <a:avLst>
              <a:gd name="adj" fmla="val 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highrisk head"/>
          <p:cNvSpPr txBox="1"/>
          <p:nvPr/>
        </p:nvSpPr>
        <p:spPr>
          <a:xfrm>
            <a:off x="822960" y="3154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 / hypertensive</a:t>
            </a:r>
            <a:endParaRPr lang="en-US" sz="2200" dirty="0"/>
          </a:p>
        </p:txBody>
      </p:sp>
      <p:sp>
        <p:nvSpPr>
          <p:cNvPr id="8" name="highrisk big"/>
          <p:cNvSpPr txBox="1"/>
          <p:nvPr/>
        </p:nvSpPr>
        <p:spPr>
          <a:xfrm>
            <a:off x="822960" y="3703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~160–181</a:t>
            </a:r>
            <a:endParaRPr lang="en-US" sz="4000" dirty="0"/>
          </a:p>
        </p:txBody>
      </p:sp>
      <p:sp>
        <p:nvSpPr>
          <p:cNvPr id="9" name="highrisk biglabel"/>
          <p:cNvSpPr txBox="1"/>
          <p:nvPr/>
        </p:nvSpPr>
        <p:spPr>
          <a:xfrm>
            <a:off x="822960" y="4526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mmHg systolic BP</a:t>
            </a:r>
            <a:endParaRPr lang="en-US" sz="1400" dirty="0"/>
          </a:p>
        </p:txBody>
      </p:sp>
      <p:sp>
        <p:nvSpPr>
          <p:cNvPr id="10" name="highrisk desc"/>
          <p:cNvSpPr txBox="1"/>
          <p:nvPr/>
        </p:nvSpPr>
        <p:spPr>
          <a:xfrm>
            <a:off x="822960" y="5029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Older patients with severely elevated blood pressure.</a:t>
            </a:r>
            <a:endParaRPr lang="en-US" sz="1600" dirty="0"/>
          </a:p>
        </p:txBody>
      </p:sp>
      <p:sp>
        <p:nvSpPr>
          <p:cNvPr id="11" name="healthy card"/>
          <p:cNvSpPr/>
          <p:nvPr/>
        </p:nvSpPr>
        <p:spPr>
          <a:xfrm>
            <a:off x="6217920" y="3017520"/>
            <a:ext cx="539496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healthy head"/>
          <p:cNvSpPr txBox="1"/>
          <p:nvPr/>
        </p:nvSpPr>
        <p:spPr>
          <a:xfrm>
            <a:off x="6492240" y="3154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/ younger</a:t>
            </a:r>
            <a:endParaRPr lang="en-US" sz="2200" dirty="0"/>
          </a:p>
        </p:txBody>
      </p:sp>
      <p:sp>
        <p:nvSpPr>
          <p:cNvPr id="13" name="healthy big"/>
          <p:cNvSpPr txBox="1"/>
          <p:nvPr/>
        </p:nvSpPr>
        <p:spPr>
          <a:xfrm>
            <a:off x="6492240" y="3703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</a:t>
            </a:r>
            <a:endParaRPr lang="en-US" sz="4000" dirty="0"/>
          </a:p>
        </p:txBody>
      </p:sp>
      <p:sp>
        <p:nvSpPr>
          <p:cNvPr id="14" name="healthy biglabel"/>
          <p:cNvSpPr txBox="1"/>
          <p:nvPr/>
        </p:nvSpPr>
        <p:spPr>
          <a:xfrm>
            <a:off x="6492240" y="4526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baseline vitals</a:t>
            </a:r>
            <a:endParaRPr lang="en-US" sz="1400" dirty="0"/>
          </a:p>
        </p:txBody>
      </p:sp>
      <p:sp>
        <p:nvSpPr>
          <p:cNvPr id="15" name="healthy desc"/>
          <p:cNvSpPr txBox="1"/>
          <p:nvPr/>
        </p:nvSpPr>
        <p:spPr>
          <a:xfrm>
            <a:off x="6492240" y="5029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Younger cohort with healthy baseline readings.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Stage 6: Explaining Clusters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1"/>
                </a:solidFill>
              </a:rPr>
              <a:t>Decision tree as a proxy for K-Means</a:t>
            </a:r>
            <a:endParaRPr lang="en-US" sz="1800" dirty="0"/>
          </a:p>
        </p:txBody>
      </p:sp>
      <p:sp>
        <p:nvSpPr>
          <p:cNvPr id="4" name="proxy card"/>
          <p:cNvSpPr/>
          <p:nvPr/>
        </p:nvSpPr>
        <p:spPr>
          <a:xfrm>
            <a:off x="548640" y="173736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proxy value"/>
          <p:cNvSpPr txBox="1"/>
          <p:nvPr/>
        </p:nvSpPr>
        <p:spPr>
          <a:xfrm>
            <a:off x="777240" y="18745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85.57%</a:t>
            </a:r>
            <a:endParaRPr lang="en-US" sz="4400" dirty="0"/>
          </a:p>
        </p:txBody>
      </p:sp>
      <p:sp>
        <p:nvSpPr>
          <p:cNvPr id="6" name="proxy label"/>
          <p:cNvSpPr txBox="1"/>
          <p:nvPr/>
        </p:nvSpPr>
        <p:spPr>
          <a:xfrm>
            <a:off x="777240" y="2880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Proxy accuracy, max depth 3</a:t>
            </a:r>
            <a:endParaRPr lang="en-US" sz="1400" dirty="0"/>
          </a:p>
        </p:txBody>
      </p:sp>
      <p:sp>
        <p:nvSpPr>
          <p:cNvPr id="7" name="rules card"/>
          <p:cNvSpPr/>
          <p:nvPr/>
        </p:nvSpPr>
        <p:spPr>
          <a:xfrm>
            <a:off x="548640" y="384048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heading Split rules"/>
          <p:cNvSpPr txBox="1"/>
          <p:nvPr/>
        </p:nvSpPr>
        <p:spPr>
          <a:xfrm>
            <a:off x="777240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rules</a:t>
            </a:r>
            <a:endParaRPr lang="en-US" sz="2000" dirty="0"/>
          </a:p>
        </p:txBody>
      </p:sp>
      <p:sp>
        <p:nvSpPr>
          <p:cNvPr id="9" name="split rules"/>
          <p:cNvSpPr txBox="1"/>
          <p:nvPr/>
        </p:nvSpPr>
        <p:spPr>
          <a:xfrm>
            <a:off x="777240" y="44805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Age ≤ 50.5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Diastolic BP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Systolic BP</a:t>
            </a:r>
            <a:endParaRPr lang="en-US" sz="1600" dirty="0"/>
          </a:p>
        </p:txBody>
      </p:sp>
      <p:graphicFrame>
        <p:nvGraphicFramePr>
          <p:cNvPr id="10" name="chd rate chart"/>
          <p:cNvGraphicFramePr/>
          <p:nvPr/>
        </p:nvGraphicFramePr>
        <p:xfrm>
          <a:off x="4480560" y="1737360"/>
          <a:ext cx="71323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dioRisk">
  <a:themeElements>
    <a:clrScheme name="CardioRisk">
      <a:dk1>
        <a:srgbClr val="2A2A2E"/>
      </a:dk1>
      <a:lt1>
        <a:srgbClr val="FFFFFF"/>
      </a:lt1>
      <a:dk2>
        <a:srgbClr val="3A0A14"/>
      </a:dk2>
      <a:lt2>
        <a:srgbClr val="FBEDEF"/>
      </a:lt2>
      <a:accent1>
        <a:srgbClr val="C62839"/>
      </a:accent1>
      <a:accent2>
        <a:srgbClr val="1B7F8C"/>
      </a:accent2>
      <a:accent3>
        <a:srgbClr val="E9A23B"/>
      </a:accent3>
      <a:accent4>
        <a:srgbClr val="7A1F2E"/>
      </a:accent4>
      <a:accent5>
        <a:srgbClr val="5B6770"/>
      </a:accent5>
      <a:accent6>
        <a:srgbClr val="A9D6DB"/>
      </a:accent6>
      <a:hlink>
        <a:srgbClr val="1B7F8C"/>
      </a:hlink>
      <a:folHlink>
        <a:srgbClr val="5B6770"/>
      </a:folHlink>
    </a:clrScheme>
    <a:fontScheme name="CardioRi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358</Words>
  <Application>Microsoft Office PowerPoint</Application>
  <PresentationFormat>Widescreen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CardioRisk</vt:lpstr>
      <vt:lpstr>Heart Attack Risk Analysis &amp; Machine Learning</vt:lpstr>
      <vt:lpstr>Introduction &amp; Dataset Overview</vt:lpstr>
      <vt:lpstr>Stage 1: Linear Regression</vt:lpstr>
      <vt:lpstr>Stage 2: Logistic Regression</vt:lpstr>
      <vt:lpstr>Stage 3: Classification Performance</vt:lpstr>
      <vt:lpstr>Stage 4: Foundations of Clustering</vt:lpstr>
      <vt:lpstr>Stage 6: Explaining Clusters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Attack Risk Analysis &amp; Machine Learning</dc:title>
  <dc:subject>PptxGenJS Presentation</dc:subject>
  <dc:creator>PptxGenJS</dc:creator>
  <cp:lastModifiedBy>Welcome Sir</cp:lastModifiedBy>
  <cp:revision>1</cp:revision>
  <dcterms:created xsi:type="dcterms:W3CDTF">2026-10-25T23:23:37Z</dcterms:created>
  <dcterms:modified xsi:type="dcterms:W3CDTF">2026-10-25T23:31:34Z</dcterms:modified>
</cp:coreProperties>
</file>